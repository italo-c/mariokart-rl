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8N7lyHQ+aYJ0ZxjEKdsLAd+mU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007828-7C53-4D08-A1B6-F3AD8749B366}">
  <a:tblStyle styleId="{59007828-7C53-4D08-A1B6-F3AD8749B3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570b7e7bd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9570b7e7bd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570b7e7bd_2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570b7e7bd_2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9570b7e7bd_2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9570b7e7bd_2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570b7e7bd_2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9570b7e7bd_2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570b7e7bd_2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570b7e7bd_2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9570b7e7bd_2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9570b7e7bd_2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570b7e7bd_2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9570b7e7bd_2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9570b7e7bd_2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570b7e7bd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9570b7e7bd_2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9570b7e7bd_2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570b7e7bd_2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9570b7e7bd_2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9570b7e7bd_2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5724ea9b5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95724ea9b5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95724ea9b5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5vdO4YgNgmDXb2pRGvtglpAungtWvAS5/view" TargetMode="External"/><Relationship Id="rId5" Type="http://schemas.openxmlformats.org/officeDocument/2006/relationships/image" Target="../media/image3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2Ad7fkCmTZqresT2o6bR8k18FPBPxtvI/view" TargetMode="External"/><Relationship Id="rId5" Type="http://schemas.openxmlformats.org/officeDocument/2006/relationships/image" Target="../media/image2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36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18.png"/><Relationship Id="rId6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ssnVzkRpxD3cYXQCvdPuScTbbgEzA263?usp=sharing" TargetMode="External"/><Relationship Id="rId5" Type="http://schemas.openxmlformats.org/officeDocument/2006/relationships/hyperlink" Target="https://colab.research.google.com/drive/1ssnVzkRpxD3cYXQCvdPuScTbbgEzA2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64592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74320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84048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93776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03504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13232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22960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57200" y="365760"/>
            <a:ext cx="201168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57200" y="365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1INF60 · </a:t>
            </a: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Aprendizaje por Refuerzo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0" y="274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>
            <a:noFill/>
          </a:ln>
          <a:effectLst>
            <a:outerShdw blurRad="152400" rotWithShape="0" algn="bl" dir="8100000" dist="38100">
              <a:srgbClr val="C0392B">
                <a:alpha val="8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5200"/>
              <a:buFont typeface="Impact"/>
              <a:buNone/>
            </a:pPr>
            <a:r>
              <a:rPr b="1" i="0" lang="en-US" sz="5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DQN vs DDQN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Conducción Autónoma en Super Mario Kart (SNES)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743200" y="2880360"/>
            <a:ext cx="3657600" cy="438912"/>
          </a:xfrm>
          <a:prstGeom prst="rect">
            <a:avLst/>
          </a:prstGeom>
          <a:solidFill>
            <a:srgbClr val="C0392B">
              <a:alpha val="80000"/>
            </a:srgbClr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743200" y="288036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Deep Reinforcement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27432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640" y="27432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Carrion · Holguin · Calderón · Céspedes · Yábar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3A3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del Perú — 202</a:t>
            </a:r>
            <a:r>
              <a:rPr lang="en-US" sz="1100">
                <a:solidFill>
                  <a:srgbClr val="FFF3A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800"/>
              <a:buFont typeface="Impact"/>
              <a:buNone/>
            </a:pPr>
            <a:r>
              <a:rPr b="1" i="0" lang="en-US" sz="28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10972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10972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57200" y="10972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2527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1463040" y="10972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Introducción y Motivación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46320" y="10972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846320" y="10972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846320" y="10972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0" y="12527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5852160" y="10972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Planteamiento del Problema (MDP)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20116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20116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57200" y="20116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21671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1463040" y="20116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Algoritmos: DQN y DDQN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46320" y="20116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846320" y="20116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846320" y="20116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9240" y="21671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5852160" y="20116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Arquitectura y Preprocesamiento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29260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57200" y="29260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57200" y="29260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463040" y="29260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Entorno de Simulación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846320" y="29260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846320" y="29260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846320" y="29260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9240" y="30815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5852160" y="29260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Setup Experimental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57200" y="3840480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57200" y="3840480"/>
            <a:ext cx="457200" cy="7498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57200" y="384048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120" y="39959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1463040" y="3840480"/>
            <a:ext cx="3063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Conclusiones &amp; Trabajo Futuro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955863" y="3140913"/>
            <a:ext cx="420000" cy="41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120" y="3140965"/>
            <a:ext cx="411480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INTRODUCCIÓN Y MOTIVACIÓN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74320" y="1051560"/>
            <a:ext cx="4023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56550" y="1725325"/>
            <a:ext cx="3258900" cy="24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Alta dimensionalidad de estados visuales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Toma de decisiones en tiempo real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Entorno modelable como MDP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 Mario Kart es un benchmark legítimo validado en literatura reciente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Análogo simplificado de sistemas autónomos reales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Menor costo computacional vs simuladores de conducción real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846320" y="1051560"/>
            <a:ext cx="40233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846320" y="10515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Preguntas de Investigación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983443" y="1796754"/>
            <a:ext cx="347400" cy="347400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983480" y="1796792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394960" y="1490472"/>
            <a:ext cx="3337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¿En qué medida DDQN mejora el desempeño frente a DQN en entornos de carreras visuales?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983430" y="2745409"/>
            <a:ext cx="347400" cy="347400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983455" y="274543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394998" y="2439102"/>
            <a:ext cx="3337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¿Cómo afecta el diseño de la función de recompensa a la convergencia y estabilidad?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983480" y="3694176"/>
            <a:ext cx="347472" cy="347472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983480" y="36941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394923" y="3387856"/>
            <a:ext cx="3337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¿Cómo influyen los hiperparámetros (memory size, epsilon decay) en el desempeño?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HIPÓTESIS Y OBJETIVOS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" y="1051560"/>
            <a:ext cx="8595360" cy="132588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30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1051560" y="10515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HIPÓTESIS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051560" y="146304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implementación de DDQN, combinada con Reward Shaping que priorice la velocidad manteniendo el vehículo cerca del centro de la pista, obtendrá tiempos de vuelta menores y mayor estabilidad en el aprendizaje que DQN convencional.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74320" y="2852928"/>
            <a:ext cx="8595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57200" y="285292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Desarrollar y comparar el desempeño de agentes DQN y DDQN para conducción autónoma en Super Mario Kart.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74320" y="3886200"/>
            <a:ext cx="274320" cy="2560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274320" y="3886200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21792" y="38862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Implementar preprocesamiento de imágenes: escala de grises 84×84 px.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4320" y="4178808"/>
            <a:ext cx="274320" cy="2560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417880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1792" y="4178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Diseñar función de recompensa que equilibre velocidad y permanencia en pista.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74320" y="4471416"/>
            <a:ext cx="274320" cy="2560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74320" y="4471416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21792" y="447141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Evaluar comparativamente DQN y DDQN con métricas de recompensa acumulada y tiempo por vuelta.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900"/>
              <a:buFont typeface="Impact"/>
              <a:buNone/>
            </a:pPr>
            <a:r>
              <a:rPr b="1" i="0" lang="en-US" sz="19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PLANTEAMIENTO: PROCESO DE DECISIÓN DE MARKOV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MDP = ( S,  A,  P,  R,  γ 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74320" y="1691640"/>
            <a:ext cx="201168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274320" y="1691640"/>
            <a:ext cx="2011680" cy="6400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274320" y="16916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mpac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14400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11480" y="2377440"/>
            <a:ext cx="1737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Tensor 4×84×84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(4 frames apilados,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escala de grises)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450592" y="1691640"/>
            <a:ext cx="201168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450592" y="1691640"/>
            <a:ext cx="2011680" cy="64008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450592" y="16916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mpac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090672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587752" y="2377440"/>
            <a:ext cx="1737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11 acciones discretas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(combinaciones de botones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SNES)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626864" y="1691640"/>
            <a:ext cx="201168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626864" y="1691640"/>
            <a:ext cx="2011680" cy="6400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626864" y="16916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mpac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266944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Recompensa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764024" y="2377440"/>
            <a:ext cx="1737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rt =getSpeedReward + getCheckpointReward + getExperimentalReward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803136" y="1691640"/>
            <a:ext cx="2011680" cy="3154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803136" y="1691640"/>
            <a:ext cx="2011680" cy="64008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803136" y="16916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mpac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443216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Descuento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940296" y="2377440"/>
            <a:ext cx="1737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γ = 0.99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(visión a largo plazo,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far-sighted)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5"/>
          <p:cNvPicPr preferRelativeResize="0"/>
          <p:nvPr/>
        </p:nvPicPr>
        <p:blipFill rotWithShape="1">
          <a:blip r:embed="rId4">
            <a:alphaModFix/>
          </a:blip>
          <a:srcRect b="0" l="0" r="66752" t="0"/>
          <a:stretch/>
        </p:blipFill>
        <p:spPr>
          <a:xfrm>
            <a:off x="370100" y="2966725"/>
            <a:ext cx="1820125" cy="10541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0" name="Google Shape;170;p5"/>
          <p:cNvPicPr preferRelativeResize="0"/>
          <p:nvPr/>
        </p:nvPicPr>
        <p:blipFill rotWithShape="1">
          <a:blip r:embed="rId4">
            <a:alphaModFix/>
          </a:blip>
          <a:srcRect b="0" l="33248" r="0" t="0"/>
          <a:stretch/>
        </p:blipFill>
        <p:spPr>
          <a:xfrm>
            <a:off x="411500" y="4181656"/>
            <a:ext cx="1737350" cy="50383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1" name="Google Shape;17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6363" y="3108983"/>
            <a:ext cx="1820125" cy="1477663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72" name="Google Shape;17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0675" y="3019512"/>
            <a:ext cx="1656599" cy="165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/>
          <p:cNvPicPr preferRelativeResize="0"/>
          <p:nvPr/>
        </p:nvPicPr>
        <p:blipFill rotWithShape="1">
          <a:blip r:embed="rId7">
            <a:alphaModFix/>
          </a:blip>
          <a:srcRect b="10520" l="16860" r="0" t="14813"/>
          <a:stretch/>
        </p:blipFill>
        <p:spPr>
          <a:xfrm>
            <a:off x="4722627" y="3108982"/>
            <a:ext cx="1820124" cy="1634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ALGORITMOS: DQN vs DDQN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74320" y="1005840"/>
            <a:ext cx="39319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274320" y="1005840"/>
            <a:ext cx="393192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274320" y="10058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DQN  —  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853238" y="2117573"/>
            <a:ext cx="2774100" cy="2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Experience Replay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Buffer de 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8000</a:t>
            </a: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transiciones (deque)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Minibatch de 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experiencias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 Target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Actualización cada C=</a:t>
            </a: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00 pasos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Política ε-greedy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ε: 1.0 → 0.1 (decaimiento lineal)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937760" y="1005840"/>
            <a:ext cx="39319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mpac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DDQN  —  Propuesta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327825" y="2332000"/>
            <a:ext cx="31518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Selección de acción: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 ONLINE elige la mejor acción en s′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Evaluación de acción: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 TARGET evalúa el valor de esa acción</a:t>
            </a:r>
            <a:endParaRPr b="0" i="0" sz="145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t/>
            </a:r>
            <a:endParaRPr sz="14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tau: 10-3</a:t>
            </a:r>
            <a:endParaRPr sz="14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25196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FFF3A3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⚡ Frame Skipping = 4 frames aplicado a ambos algoritmos para acelerar entrenamiento y simplificar decisiones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ARQUITECTURA DE RED NEURONAL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PIPELINE DE PREPROCESAMIENTO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74320" y="1417320"/>
            <a:ext cx="1508760" cy="9144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274320" y="141732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224×256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783080" y="1783080"/>
            <a:ext cx="228600" cy="16459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011680" y="1417320"/>
            <a:ext cx="1508760" cy="914400"/>
          </a:xfrm>
          <a:prstGeom prst="rect">
            <a:avLst/>
          </a:prstGeom>
          <a:solidFill>
            <a:srgbClr val="5D6D7E"/>
          </a:solidFill>
          <a:ln cap="flat" cmpd="sng" w="12700">
            <a:solidFill>
              <a:srgbClr val="5D6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2011680" y="141732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520440" y="1783080"/>
            <a:ext cx="228600" cy="16459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3749040" y="1417320"/>
            <a:ext cx="1508760" cy="9144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3749040" y="141732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84×84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257800" y="1783080"/>
            <a:ext cx="228600" cy="16459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486400" y="1417320"/>
            <a:ext cx="1508760" cy="9144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5486400" y="141732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[0, 1]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995160" y="1783080"/>
            <a:ext cx="228600" cy="164592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223760" y="1417320"/>
            <a:ext cx="1508760" cy="914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223760" y="1417320"/>
            <a:ext cx="1508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frames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4×84×84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274320" y="2487168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ARQUITECTURA CNN (DQN/DDQN)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7"/>
          <p:cNvGraphicFramePr/>
          <p:nvPr/>
        </p:nvGraphicFramePr>
        <p:xfrm>
          <a:off x="27432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{59007828-7C53-4D08-A1B6-F3AD8749B366}</a:tableStyleId>
              </a:tblPr>
              <a:tblGrid>
                <a:gridCol w="457200"/>
                <a:gridCol w="2011675"/>
                <a:gridCol w="4114800"/>
                <a:gridCol w="1828800"/>
              </a:tblGrid>
              <a:tr h="32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Capa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Tipo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Parámetros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Activación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1A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Convolucional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kernel 8×8, stride 4, filtros 32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ReLU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Convolucional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kernel 4×4, stride 2, filtros 64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ReLU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Convolucional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kernel 3×3, stride 1, filtros 64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ReLU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Fully Connected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512 neuronas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ReLU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5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Fully Connected (salida)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7 neuronas (1 por acción)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</a:rPr>
                        <a:t>Lineal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ENTORNO DE SIMULACIÓN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274320" y="1051560"/>
            <a:ext cx="1920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274320" y="1051560"/>
            <a:ext cx="192024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74320" y="10515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Juego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274320" y="14630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 Mario Kart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(SNES)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2450592" y="1051560"/>
            <a:ext cx="1920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2450592" y="1051560"/>
            <a:ext cx="1920240" cy="41148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2450592" y="10515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450592" y="14630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stable-retro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(fork OpenAI Gym)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626864" y="1051560"/>
            <a:ext cx="1920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626864" y="1051560"/>
            <a:ext cx="1920240" cy="4114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626864" y="10515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626864" y="14630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 Trial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(sin ítems/oponentes)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803136" y="1051560"/>
            <a:ext cx="192024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803136" y="1051560"/>
            <a:ext cx="1920240" cy="41148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6803136" y="10515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803136" y="1463040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Google Colaboratory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(display virtual)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74320" y="2852928"/>
            <a:ext cx="8595360" cy="196596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457200" y="288036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¿Por qué Super Mario Kart SNES?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 nativa con stable-retro y wrappers de Gymnasium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Permite reward shaping basado en velocidad, checkpoints y permanencia en pista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Circuitos personalizables con objetos y trampas: análogo simplificado de eventos inesperados reales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Validado explícitamente como benchmark legítimo para controladores autónomos (Sakano et al., 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570b7e7bd_2_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9570b7e7bd_2_3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g39570b7e7bd_2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9570b7e7bd_2_3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ENTORNO DE SIMULACIÓN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570b7e7bd_2_3"/>
          <p:cNvSpPr/>
          <p:nvPr/>
        </p:nvSpPr>
        <p:spPr>
          <a:xfrm>
            <a:off x="274320" y="1051560"/>
            <a:ext cx="19203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570b7e7bd_2_3"/>
          <p:cNvSpPr/>
          <p:nvPr/>
        </p:nvSpPr>
        <p:spPr>
          <a:xfrm>
            <a:off x="274320" y="1051560"/>
            <a:ext cx="1920300" cy="411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9570b7e7bd_2_3"/>
          <p:cNvSpPr/>
          <p:nvPr/>
        </p:nvSpPr>
        <p:spPr>
          <a:xfrm>
            <a:off x="274320" y="105156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Juego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9570b7e7bd_2_3"/>
          <p:cNvSpPr/>
          <p:nvPr/>
        </p:nvSpPr>
        <p:spPr>
          <a:xfrm>
            <a:off x="274320" y="1463040"/>
            <a:ext cx="1920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 Mario Kart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(SNES)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570b7e7bd_2_3"/>
          <p:cNvSpPr/>
          <p:nvPr/>
        </p:nvSpPr>
        <p:spPr>
          <a:xfrm>
            <a:off x="2450592" y="1051560"/>
            <a:ext cx="19203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9570b7e7bd_2_3"/>
          <p:cNvSpPr/>
          <p:nvPr/>
        </p:nvSpPr>
        <p:spPr>
          <a:xfrm>
            <a:off x="2450592" y="1051560"/>
            <a:ext cx="1920300" cy="4116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9570b7e7bd_2_3"/>
          <p:cNvSpPr/>
          <p:nvPr/>
        </p:nvSpPr>
        <p:spPr>
          <a:xfrm>
            <a:off x="2450592" y="105156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9570b7e7bd_2_3"/>
          <p:cNvSpPr/>
          <p:nvPr/>
        </p:nvSpPr>
        <p:spPr>
          <a:xfrm>
            <a:off x="2450592" y="1463040"/>
            <a:ext cx="1920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stable-retro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(fork OpenAI Gym)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9570b7e7bd_2_3"/>
          <p:cNvSpPr/>
          <p:nvPr/>
        </p:nvSpPr>
        <p:spPr>
          <a:xfrm>
            <a:off x="4626864" y="1051560"/>
            <a:ext cx="19203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9570b7e7bd_2_3"/>
          <p:cNvSpPr/>
          <p:nvPr/>
        </p:nvSpPr>
        <p:spPr>
          <a:xfrm>
            <a:off x="4626864" y="1051560"/>
            <a:ext cx="1920300" cy="4116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9570b7e7bd_2_3"/>
          <p:cNvSpPr/>
          <p:nvPr/>
        </p:nvSpPr>
        <p:spPr>
          <a:xfrm>
            <a:off x="4626864" y="105156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570b7e7bd_2_3"/>
          <p:cNvSpPr/>
          <p:nvPr/>
        </p:nvSpPr>
        <p:spPr>
          <a:xfrm>
            <a:off x="4626864" y="1463040"/>
            <a:ext cx="1920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 Trial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(sin ítems/oponentes)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9570b7e7bd_2_3"/>
          <p:cNvSpPr/>
          <p:nvPr/>
        </p:nvSpPr>
        <p:spPr>
          <a:xfrm>
            <a:off x="6803136" y="1051560"/>
            <a:ext cx="19203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9570b7e7bd_2_3"/>
          <p:cNvSpPr/>
          <p:nvPr/>
        </p:nvSpPr>
        <p:spPr>
          <a:xfrm>
            <a:off x="6803136" y="1051560"/>
            <a:ext cx="1920300" cy="41160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9570b7e7bd_2_3"/>
          <p:cNvSpPr/>
          <p:nvPr/>
        </p:nvSpPr>
        <p:spPr>
          <a:xfrm>
            <a:off x="6803136" y="1051560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9570b7e7bd_2_3"/>
          <p:cNvSpPr/>
          <p:nvPr/>
        </p:nvSpPr>
        <p:spPr>
          <a:xfrm>
            <a:off x="6803136" y="1463040"/>
            <a:ext cx="1920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Google Colaboratory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(display virtual)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9570b7e7bd_2_3"/>
          <p:cNvSpPr/>
          <p:nvPr/>
        </p:nvSpPr>
        <p:spPr>
          <a:xfrm>
            <a:off x="274320" y="2852928"/>
            <a:ext cx="8595300" cy="19659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9570b7e7bd_2_3"/>
          <p:cNvSpPr/>
          <p:nvPr/>
        </p:nvSpPr>
        <p:spPr>
          <a:xfrm>
            <a:off x="457200" y="2880349"/>
            <a:ext cx="271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Configuración empleada (Best)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9570b7e7bd_2_3"/>
          <p:cNvSpPr/>
          <p:nvPr/>
        </p:nvSpPr>
        <p:spPr>
          <a:xfrm>
            <a:off x="457200" y="3291848"/>
            <a:ext cx="2711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Número de episodios: 300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Memory_size: 8000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 de descuento: 0.99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Learning Rate: 10-4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Epsilon Start and Min: 1.0 y 0.01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Epsilon Decay Replays: 20000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Tamaño de batch: 64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Frecuencia de actualización: 200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9570b7e7bd_2_3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9570b7e7bd_2_3"/>
          <p:cNvSpPr/>
          <p:nvPr/>
        </p:nvSpPr>
        <p:spPr>
          <a:xfrm>
            <a:off x="4528575" y="3291850"/>
            <a:ext cx="2855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enalización contra: -2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Incentivo de velocidad: 300&lt;x&lt;1000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Inactividad:-0.1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Colisión: -2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Fuera de pista: -1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Dentro de pista: 1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9570b7e7bd_2_3"/>
          <p:cNvSpPr/>
          <p:nvPr/>
        </p:nvSpPr>
        <p:spPr>
          <a:xfrm>
            <a:off x="4672600" y="2880349"/>
            <a:ext cx="271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SETUP EXPERIMENTAL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74320" y="1005840"/>
            <a:ext cx="39319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EVALUACIÓN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57200" y="1481328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Recompensa acumulada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Retorno total por episodio. Refleja progreso en pista, velocidad y permanencia.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Tiempo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 ejecución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Eficiencia operativa para completar el 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r>
              <a:rPr b="0" i="0" lang="en-US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937760" y="1005840"/>
            <a:ext cx="39319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FUNCIÓN DE PÉRDIDA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120640" y="1481328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Huber Loss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Más robusta ante outliers que MSE.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Ampliamente usada en evaluación de juegos Atari [Mazare, 2019].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274320" y="3154680"/>
            <a:ext cx="8595300" cy="17832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57200" y="3182112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EXPERIMENTOS PLANIFICADOS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57200" y="3584449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Comparación base DQN vs DDQN (misma arquitectura, mismos hiperparámetros)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Variación de memory size y epsilon decay: análisis de impacto en desempeño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estabilidad: varianza de recompensa acumulada a lo largo del entrenamiento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570b7e7bd_2_6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570b7e7bd_2_66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g39570b7e7bd_2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9570b7e7bd_2_66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(BEST DQN)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9570b7e7bd_2_66"/>
          <p:cNvSpPr/>
          <p:nvPr/>
        </p:nvSpPr>
        <p:spPr>
          <a:xfrm>
            <a:off x="274320" y="2852928"/>
            <a:ext cx="8595300" cy="19659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9570b7e7bd_2_66"/>
          <p:cNvSpPr/>
          <p:nvPr/>
        </p:nvSpPr>
        <p:spPr>
          <a:xfrm>
            <a:off x="457200" y="2880349"/>
            <a:ext cx="271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Configuración empleada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9570b7e7bd_2_66"/>
          <p:cNvSpPr/>
          <p:nvPr/>
        </p:nvSpPr>
        <p:spPr>
          <a:xfrm>
            <a:off x="457200" y="3291848"/>
            <a:ext cx="2711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Número de episodios: 300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Memory_size: 8000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 de descuento: 0.99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Learning Rate: 10-4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Epsilon Start and Min: 1.0 y 0.01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Epsilon Decay Replays: 20000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Tamaño de batch: 64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Frecuencia de actualización: 200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9570b7e7bd_2_66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9570b7e7bd_2_66"/>
          <p:cNvSpPr/>
          <p:nvPr/>
        </p:nvSpPr>
        <p:spPr>
          <a:xfrm>
            <a:off x="4528575" y="3291850"/>
            <a:ext cx="2855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Penalización contra: -2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Incentivo de velocidad: 300&lt;x&lt;1000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Inactividad:-0.1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Colisión: -2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Fuera de pista: -1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Dentro de pista: 1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9570b7e7bd_2_66"/>
          <p:cNvSpPr/>
          <p:nvPr/>
        </p:nvSpPr>
        <p:spPr>
          <a:xfrm>
            <a:off x="4672600" y="2880349"/>
            <a:ext cx="271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g39570b7e7bd_2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952524"/>
            <a:ext cx="4096601" cy="184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9570b7e7bd_2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8565" y="963587"/>
            <a:ext cx="4419135" cy="18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570b7e7bd_2_8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9570b7e7bd_2_82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g39570b7e7bd_2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9570b7e7bd_2_82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(BEST DQN)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9570b7e7bd_2_82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9570b7e7bd_2_82" title="FIJAZA_ITALOWE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2113" y="987112"/>
            <a:ext cx="4379725" cy="38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570b7e7bd_2_14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9570b7e7bd_2_143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g39570b7e7bd_2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9570b7e7bd_2_143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(BEST DDQN)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9570b7e7bd_2_143"/>
          <p:cNvSpPr/>
          <p:nvPr/>
        </p:nvSpPr>
        <p:spPr>
          <a:xfrm>
            <a:off x="274320" y="2852928"/>
            <a:ext cx="8595300" cy="19659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9570b7e7bd_2_143"/>
          <p:cNvSpPr/>
          <p:nvPr/>
        </p:nvSpPr>
        <p:spPr>
          <a:xfrm>
            <a:off x="457200" y="2880349"/>
            <a:ext cx="271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Configuración empleada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9570b7e7bd_2_143"/>
          <p:cNvSpPr/>
          <p:nvPr/>
        </p:nvSpPr>
        <p:spPr>
          <a:xfrm>
            <a:off x="457200" y="3233550"/>
            <a:ext cx="27111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Número de episodios: 300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Memory_size: 8000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 de descuento: 0.99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Learning Rate: 10-4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Epsilon Start and Min: 1.0 y 0.01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Epsilon Decay Replays: 20000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Tamaño de batch: 64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Frecuencia de actualización: 200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9570b7e7bd_2_143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9570b7e7bd_2_143"/>
          <p:cNvSpPr/>
          <p:nvPr/>
        </p:nvSpPr>
        <p:spPr>
          <a:xfrm>
            <a:off x="4528575" y="3291850"/>
            <a:ext cx="2855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Penalización contra: -2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Incentivo de velocidad: 300&lt;x&lt;1000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Inactividad:-0.1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Colisión: -2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Fuera de pista: -1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Dentro de pista: 1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9570b7e7bd_2_143"/>
          <p:cNvSpPr/>
          <p:nvPr/>
        </p:nvSpPr>
        <p:spPr>
          <a:xfrm>
            <a:off x="4672600" y="2880349"/>
            <a:ext cx="271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g39570b7e7bd_2_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5" y="1031175"/>
            <a:ext cx="3886852" cy="1732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6" name="Google Shape;346;g39570b7e7bd_2_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6175" y="1031175"/>
            <a:ext cx="4172475" cy="1732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570b7e7bd_2_15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9570b7e7bd_2_159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g39570b7e7bd_2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9570b7e7bd_2_159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(BEST DDQN)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9570b7e7bd_2_159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g39570b7e7bd_2_159" title="ddqn aprendiendo de 0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7413" y="1084225"/>
            <a:ext cx="4289175" cy="37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570b7e7bd_2_9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9570b7e7bd_2_98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g39570b7e7bd_2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9570b7e7bd_2_98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(MEMORY SIZE)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9570b7e7bd_2_98"/>
          <p:cNvSpPr/>
          <p:nvPr/>
        </p:nvSpPr>
        <p:spPr>
          <a:xfrm>
            <a:off x="43435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9570b7e7bd_2_98"/>
          <p:cNvSpPr/>
          <p:nvPr/>
        </p:nvSpPr>
        <p:spPr>
          <a:xfrm>
            <a:off x="1102750" y="4131450"/>
            <a:ext cx="1008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9570b7e7bd_2_98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9570b7e7bd_2_98"/>
          <p:cNvSpPr/>
          <p:nvPr/>
        </p:nvSpPr>
        <p:spPr>
          <a:xfrm>
            <a:off x="339930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9570b7e7bd_2_98"/>
          <p:cNvSpPr/>
          <p:nvPr/>
        </p:nvSpPr>
        <p:spPr>
          <a:xfrm>
            <a:off x="4067700" y="4131450"/>
            <a:ext cx="1008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9570b7e7bd_2_98"/>
          <p:cNvSpPr/>
          <p:nvPr/>
        </p:nvSpPr>
        <p:spPr>
          <a:xfrm>
            <a:off x="634140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9570b7e7bd_2_98"/>
          <p:cNvSpPr/>
          <p:nvPr/>
        </p:nvSpPr>
        <p:spPr>
          <a:xfrm>
            <a:off x="6873300" y="4131450"/>
            <a:ext cx="1281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g39570b7e7bd_2_98"/>
          <p:cNvPicPr preferRelativeResize="0"/>
          <p:nvPr/>
        </p:nvPicPr>
        <p:blipFill rotWithShape="1">
          <a:blip r:embed="rId4">
            <a:alphaModFix/>
          </a:blip>
          <a:srcRect b="0" l="1516" r="0" t="1671"/>
          <a:stretch/>
        </p:blipFill>
        <p:spPr>
          <a:xfrm>
            <a:off x="6073225" y="1547500"/>
            <a:ext cx="2881775" cy="22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9570b7e7bd_2_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925" y="1547512"/>
            <a:ext cx="2628255" cy="21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9570b7e7bd_2_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8525" y="1586225"/>
            <a:ext cx="2937351" cy="21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570b7e7bd_2_1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9570b7e7bd_2_121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g39570b7e7bd_2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9570b7e7bd_2_121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(EPSILON DECAY)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9570b7e7bd_2_121"/>
          <p:cNvSpPr/>
          <p:nvPr/>
        </p:nvSpPr>
        <p:spPr>
          <a:xfrm>
            <a:off x="43435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9570b7e7bd_2_121"/>
          <p:cNvSpPr/>
          <p:nvPr/>
        </p:nvSpPr>
        <p:spPr>
          <a:xfrm>
            <a:off x="1102750" y="4131450"/>
            <a:ext cx="1008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9570b7e7bd_2_121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9570b7e7bd_2_121"/>
          <p:cNvSpPr/>
          <p:nvPr/>
        </p:nvSpPr>
        <p:spPr>
          <a:xfrm>
            <a:off x="339930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9570b7e7bd_2_121"/>
          <p:cNvSpPr/>
          <p:nvPr/>
        </p:nvSpPr>
        <p:spPr>
          <a:xfrm>
            <a:off x="3931200" y="4131450"/>
            <a:ext cx="1281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9570b7e7bd_2_121"/>
          <p:cNvSpPr/>
          <p:nvPr/>
        </p:nvSpPr>
        <p:spPr>
          <a:xfrm>
            <a:off x="634140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9570b7e7bd_2_121"/>
          <p:cNvSpPr/>
          <p:nvPr/>
        </p:nvSpPr>
        <p:spPr>
          <a:xfrm>
            <a:off x="6873300" y="4131450"/>
            <a:ext cx="1281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20000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g39570b7e7bd_2_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475" y="1571550"/>
            <a:ext cx="2792851" cy="20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9570b7e7bd_2_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925" y="1563050"/>
            <a:ext cx="2948275" cy="20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9570b7e7bd_2_1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2600" y="1563050"/>
            <a:ext cx="2792851" cy="20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5724ea9b5_2_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95724ea9b5_2_2"/>
          <p:cNvSpPr/>
          <p:nvPr/>
        </p:nvSpPr>
        <p:spPr>
          <a:xfrm>
            <a:off x="0" y="822960"/>
            <a:ext cx="9144000" cy="915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3" name="Google Shape;403;g395724ea9b5_2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95724ea9b5_2_2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lang="en-US" sz="2200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EJECUCIONES REALIZADAS (EPSILON DECAY)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95724ea9b5_2_2"/>
          <p:cNvSpPr/>
          <p:nvPr/>
        </p:nvSpPr>
        <p:spPr>
          <a:xfrm>
            <a:off x="43435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95724ea9b5_2_2"/>
          <p:cNvSpPr/>
          <p:nvPr/>
        </p:nvSpPr>
        <p:spPr>
          <a:xfrm>
            <a:off x="1102750" y="4131450"/>
            <a:ext cx="1008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5000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95724ea9b5_2_2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95724ea9b5_2_2"/>
          <p:cNvSpPr/>
          <p:nvPr/>
        </p:nvSpPr>
        <p:spPr>
          <a:xfrm>
            <a:off x="339930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95724ea9b5_2_2"/>
          <p:cNvSpPr/>
          <p:nvPr/>
        </p:nvSpPr>
        <p:spPr>
          <a:xfrm>
            <a:off x="3931200" y="4131450"/>
            <a:ext cx="1281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10000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95724ea9b5_2_2"/>
          <p:cNvSpPr/>
          <p:nvPr/>
        </p:nvSpPr>
        <p:spPr>
          <a:xfrm>
            <a:off x="6341400" y="4039350"/>
            <a:ext cx="2345400" cy="779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95724ea9b5_2_2"/>
          <p:cNvSpPr/>
          <p:nvPr/>
        </p:nvSpPr>
        <p:spPr>
          <a:xfrm>
            <a:off x="6873300" y="4131450"/>
            <a:ext cx="1281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00"/>
              <a:buFont typeface="Calibri"/>
              <a:buNone/>
            </a:pPr>
            <a:r>
              <a:rPr b="1" lang="en-US" sz="3800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20000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g395724ea9b5_2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125" y="1431700"/>
            <a:ext cx="2937351" cy="21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95724ea9b5_2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825" y="1431700"/>
            <a:ext cx="2872451" cy="21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95724ea9b5_2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6325" y="1416525"/>
            <a:ext cx="2937350" cy="2168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9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1A1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0"/>
          <p:cNvSpPr/>
          <p:nvPr/>
        </p:nvSpPr>
        <p:spPr>
          <a:xfrm>
            <a:off x="9144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2200"/>
              <a:buFont typeface="Impact"/>
              <a:buNone/>
            </a:pPr>
            <a:r>
              <a:rPr b="1" i="0" lang="en-US" sz="22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CONCLUSIONES &amp; TRABAJO FUTURO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74325" y="1005850"/>
            <a:ext cx="8595300" cy="271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274325" y="1523175"/>
            <a:ext cx="85953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DDQN no superó a DQN bajo la configuración utilizada; DQN obtuvo mayor retorno máximo y mejor desempeño en los últimos episodios.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reducción teórica de sobreestimación en DDQN no se tradujo en mejor rendimiento práctico en este entorno específico.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El reward shaping fue el factor más determinante para lograr convergencia y estabilidad; la recompensa por defecto generaba reward hacking e inestabilidad.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Diseñar una recompensa que priorice velocidad + progreso + permanencia en pista mejora significativamente la calidad de la política aprendida.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memory size intermedio (8000) ofrece el mejor equilibrio entre diversidad de experiencias y relevancia temporal.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 epsilon decay intermedio (10000) permite balance adecuado entre exploración inicial y explotación posterior, evitando convergencia prematura o aprendizaje excesivamente aleatorio.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hipótesis se valida parcialmente: el reward shaping mejora estabilidad, pero DDQN no produjo mejores tiempos ni mayor desempeño que DQN en esta configuración.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 este entorno visual complejo, la ingeniería de recompensas y la sintonización de hiperparámetros influyen más que la variante del algoritmo basada en valores.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274325" y="3796950"/>
            <a:ext cx="8595300" cy="1113600"/>
          </a:xfrm>
          <a:prstGeom prst="rect">
            <a:avLst/>
          </a:prstGeom>
          <a:solidFill>
            <a:srgbClr val="1A1A3E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457200" y="37969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TRABAJO FUTURO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57200" y="4191662"/>
            <a:ext cx="8229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Probar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otras funciones de recompensa (basadas en potencial: velocidad, ángulo y desplazamiento de forma conjunta)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Explorar algoritmos más avanzados: A2C, PPO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274320" y="489204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DQN vs DDQN · Super Mario Kart SNES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54864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164592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274320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84048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493776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603504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7132320" y="4480560"/>
            <a:ext cx="822960" cy="3657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229600" y="4480560"/>
            <a:ext cx="822960" cy="365760"/>
          </a:xfrm>
          <a:prstGeom prst="rect">
            <a:avLst/>
          </a:prstGeom>
          <a:solidFill>
            <a:srgbClr val="1A1A4A"/>
          </a:solidFill>
          <a:ln cap="flat" cmpd="sng" w="12700">
            <a:solidFill>
              <a:srgbClr val="0D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8229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1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>
            <a:noFill/>
          </a:ln>
          <a:effectLst>
            <a:outerShdw blurRad="203200" rotWithShape="0" algn="bl" dir="8100000" dist="50800">
              <a:srgbClr val="C0392B">
                <a:alpha val="9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6000"/>
              <a:buFont typeface="Impact"/>
              <a:buNone/>
            </a:pPr>
            <a:r>
              <a:rPr b="1" i="0" lang="en-US" sz="6000" u="none" cap="none" strike="noStrike">
                <a:solidFill>
                  <a:srgbClr val="FFD700"/>
                </a:solidFill>
                <a:latin typeface="Impact"/>
                <a:ea typeface="Impact"/>
                <a:cs typeface="Impact"/>
                <a:sym typeface="Impact"/>
              </a:rPr>
              <a:t>¡GRACIAS!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Repositorio del proyecto: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>
            <a:hlinkClick r:id="rId4"/>
          </p:cNvPr>
          <p:cNvSpPr/>
          <p:nvPr/>
        </p:nvSpPr>
        <p:spPr>
          <a:xfrm>
            <a:off x="457200" y="315466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Calibri"/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https://colab.research.google.com/drive/1ssnVzkRpxD3cYXQCvdPuScTbbgEzA263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457200" y="345643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Acceso como editor para cuentas @pucp.edu.pe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Carrion · Holguin · Calderón · Céspedes · Yábar  |  1INF60 Aprendizaje por Refuerzo  |  PUCP 202</a:t>
            </a:r>
            <a:r>
              <a:rPr lang="en-US" sz="10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2026-02-26T21:40:38Z</dcterms:created>
  <dc:creator>Aprendizaje por Refuerzo - PUCP</dc:creator>
</cp:coreProperties>
</file>